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52B6F"/>
                </a:solidFill>
              </a:defRPr>
            </a:pPr>
            <a:r>
              <a:t>GridWeaver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052A0"/>
                </a:solidFill>
              </a:defRPr>
            </a:pPr>
            <a:r>
              <a:t>Virtual Thread IoT Microgrid State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9476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F6470"/>
                </a:solidFill>
              </a:defRPr>
            </a:pPr>
            <a:r>
              <a:t>Final Project Presentation | Java Development Internship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470"/>
                </a:solidFill>
              </a:defRPr>
            </a:pPr>
            <a:r>
              <a:t>A practical Java concurrency and IoT simulation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Build a Java 21 application using modern OOP and concurrency.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Simulate solar, battery and electrical-load IoT devices.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Process asynchronous telemetry using virtual threads.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Calculate live microgrid balance and grid import.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Provide tests, documentation and a repeatable performance benchmark.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470"/>
                </a:solidFill>
              </a:defRPr>
            </a:pPr>
            <a:r>
              <a:t>Managing many IoT readings requires scalable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A microgrid can contain many devices producing frequent sensor events.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One heavyweight thread per event does not scale efficiently for I/O-like work.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The engine needs thread-safe state while updates arrive asynchronously.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GridWeaver uses Java 21 virtual threads to model this workload.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1828800" cy="96012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52B6F"/>
                </a:solidFill>
              </a:defRPr>
            </a:pPr>
            <a:r>
              <a:t>IoT Devices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331720"/>
            <a:ext cx="1828800" cy="96012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52B6F"/>
                </a:solidFill>
              </a:defRPr>
            </a:pPr>
            <a:r>
              <a:t>Virtual Threads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331720"/>
            <a:ext cx="1828800" cy="96012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52B6F"/>
                </a:solidFill>
              </a:defRPr>
            </a:pPr>
            <a:r>
              <a:t>Thread-safe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331720"/>
            <a:ext cx="1828800" cy="96012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52B6F"/>
                </a:solidFill>
              </a:defRPr>
            </a:pPr>
            <a:r>
              <a:t>State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331720"/>
            <a:ext cx="1828800" cy="96012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52B6F"/>
                </a:solidFill>
              </a:defRPr>
            </a:pPr>
            <a:r>
              <a:t>Snapshot</a:t>
            </a:r>
          </a:p>
        </p:txBody>
      </p:sp>
      <p:sp>
        <p:nvSpPr>
          <p:cNvPr id="8" name="Chevron 7"/>
          <p:cNvSpPr/>
          <p:nvPr/>
        </p:nvSpPr>
        <p:spPr>
          <a:xfrm>
            <a:off x="2468880" y="2578608"/>
            <a:ext cx="411480" cy="457200"/>
          </a:xfrm>
          <a:prstGeom prst="chevron">
            <a:avLst/>
          </a:prstGeom>
          <a:solidFill>
            <a:srgbClr val="3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4754880" y="2578608"/>
            <a:ext cx="411480" cy="457200"/>
          </a:xfrm>
          <a:prstGeom prst="chevron">
            <a:avLst/>
          </a:prstGeom>
          <a:solidFill>
            <a:srgbClr val="3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7040880" y="2578608"/>
            <a:ext cx="411480" cy="457200"/>
          </a:xfrm>
          <a:prstGeom prst="chevron">
            <a:avLst/>
          </a:prstGeom>
          <a:solidFill>
            <a:srgbClr val="3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9326880" y="2578608"/>
            <a:ext cx="411480" cy="457200"/>
          </a:xfrm>
          <a:prstGeom prst="chevron">
            <a:avLst/>
          </a:prstGeom>
          <a:solidFill>
            <a:srgbClr val="3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837"/>
                </a:solidFill>
              </a:defRPr>
            </a:pPr>
            <a:r>
              <a:t>Solar / Battery / Load  →  async sensor update  →  ConcurrentHashMap + AtomicReference  →  aggregation  →  health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Java 21 — virtual threads, records, modern switch syntax.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Maven — standard build and dependency management.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JUnit 5 — automated unit tests.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ConcurrentHashMap — thread-safe device registry.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AtomicReference — thread-safe mutable power readings.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No database/API dependency in the core simulator; future integration points are documented.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Core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470"/>
                </a:solidFill>
              </a:defRPr>
            </a:pPr>
            <a:r>
              <a:t>Microgrid balance calculation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246120" cy="123444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5F6470"/>
                </a:solidFill>
              </a:defRPr>
            </a:pPr>
            <a:r>
              <a:t>Generation</a:t>
            </a:r>
          </a:p>
          <a:p>
            <a:pPr algn="ctr">
              <a:defRPr sz="2200" b="1">
                <a:solidFill>
                  <a:srgbClr val="152B6F"/>
                </a:solidFill>
              </a:defRPr>
            </a:pPr>
            <a:r>
              <a:t>32.50 kW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554480"/>
            <a:ext cx="3246120" cy="123444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5F6470"/>
                </a:solidFill>
              </a:defRPr>
            </a:pPr>
            <a:r>
              <a:t>Load</a:t>
            </a:r>
          </a:p>
          <a:p>
            <a:pPr algn="ctr">
              <a:defRPr sz="2200" b="1">
                <a:solidFill>
                  <a:srgbClr val="152B6F"/>
                </a:solidFill>
              </a:defRPr>
            </a:pPr>
            <a:r>
              <a:t>28.00 kW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54480"/>
            <a:ext cx="3246120" cy="123444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5F6470"/>
                </a:solidFill>
              </a:defRPr>
            </a:pPr>
            <a:r>
              <a:t>Battery</a:t>
            </a:r>
          </a:p>
          <a:p>
            <a:pPr algn="ctr">
              <a:defRPr sz="2200" b="1">
                <a:solidFill>
                  <a:srgbClr val="152B6F"/>
                </a:solidFill>
              </a:defRPr>
            </a:pPr>
            <a:r>
              <a:t>5.00 kW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3246120" cy="123444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5F6470"/>
                </a:solidFill>
              </a:defRPr>
            </a:pPr>
            <a:r>
              <a:t>Balance</a:t>
            </a:r>
          </a:p>
          <a:p>
            <a:pPr algn="ctr">
              <a:defRPr sz="2200" b="1">
                <a:solidFill>
                  <a:srgbClr val="152B6F"/>
                </a:solidFill>
              </a:defRPr>
            </a:pPr>
            <a:r>
              <a:t>9.50 kW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474720"/>
            <a:ext cx="3246120" cy="123444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5F6470"/>
                </a:solidFill>
              </a:defRPr>
            </a:pPr>
            <a:r>
              <a:t>Grid Import</a:t>
            </a:r>
          </a:p>
          <a:p>
            <a:pPr algn="ctr">
              <a:defRPr sz="2200" b="1">
                <a:solidFill>
                  <a:srgbClr val="152B6F"/>
                </a:solidFill>
              </a:defRPr>
            </a:pPr>
            <a:r>
              <a:t>0.00 kW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474720"/>
            <a:ext cx="3246120" cy="1234440"/>
          </a:xfrm>
          <a:prstGeom prst="roundRect">
            <a:avLst/>
          </a:prstGeom>
          <a:solidFill>
            <a:srgbClr val="EEF2FA"/>
          </a:solidFill>
          <a:ln>
            <a:solidFill>
              <a:srgbClr val="30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5F6470"/>
                </a:solidFill>
              </a:defRPr>
            </a:pPr>
            <a:r>
              <a:t>Status</a:t>
            </a:r>
          </a:p>
          <a:p>
            <a:pPr algn="ctr">
              <a:defRPr sz="2200" b="1">
                <a:solidFill>
                  <a:srgbClr val="152B6F"/>
                </a:solidFill>
              </a:defRPr>
            </a:pPr>
            <a:r>
              <a:t>SURPLUS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52B6F"/>
                </a:solidFill>
              </a:defRPr>
            </a:pPr>
            <a:r>
              <a:t>balance = generation + batteryPower −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Java 21 source compiled successfully in the verification environment.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Grid import calculation: PASS.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Battery contribution: PASS.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Asynchronous sensor update: PASS.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Dependency-free smoke test: 3/3 PASS.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JUnit 5 tests are included for Maven-based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470"/>
                </a:solidFill>
              </a:defRPr>
            </a:pPr>
            <a:r>
              <a:t>Reference benchmark: 1,000 tasks × 20 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7"/>
                </a:solidFill>
              </a:defRPr>
            </a:pPr>
            <a:r>
              <a:t>Platform-thread pool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1828800"/>
            <a:ext cx="6400800" cy="502920"/>
          </a:xfrm>
          <a:prstGeom prst="rect">
            <a:avLst/>
          </a:prstGeom>
          <a:solidFill>
            <a:srgbClr val="3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80136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B6F"/>
                </a:solidFill>
              </a:defRPr>
            </a:pPr>
            <a:r>
              <a:t>224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7"/>
                </a:solidFill>
              </a:defRPr>
            </a:pPr>
            <a:r>
              <a:t>Virtual threads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3291840"/>
            <a:ext cx="914400" cy="502920"/>
          </a:xfrm>
          <a:prstGeom prst="rect">
            <a:avLst/>
          </a:prstGeom>
          <a:solidFill>
            <a:srgbClr val="3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32644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B6F"/>
                </a:solidFill>
              </a:defRPr>
            </a:pPr>
            <a:r>
              <a:t>28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F6470"/>
                </a:solidFill>
              </a:defRPr>
            </a:pPr>
            <a:r>
              <a:t>Reference result from the verification environment. Local timings vary by hardware, OS and JDK.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Assignment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Source code — included.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Project documentation — included.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Final project report — included.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Presentation — included.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Model evaluation — not applicable to this non-ML project; concurrency benchmark included.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Final demonstration — executable batch scripts and README included.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B6F"/>
                </a:solidFill>
              </a:defRPr>
            </a:pPr>
            <a:r>
              <a:t>Future Enhancements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Add Spring Boot REST endpoints and WebSocket live updates.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Integrate MQTT for real sensor telemetry.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Persist readings in PostgreSQL/TimescaleDB.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Add React dashboard, alerts and battery state-of-charge.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Dockerize and add CI/CD.</a:t>
            </a:r>
          </a:p>
          <a:p>
            <a:pPr>
              <a:spcAft>
                <a:spcPts val="1300"/>
              </a:spcAft>
              <a:defRPr sz="2000">
                <a:solidFill>
                  <a:srgbClr val="232837"/>
                </a:solidFill>
              </a:defRPr>
            </a:pPr>
            <a:r>
              <a:t>• Conclusion: GridWeaver demonstrates Java 21 OOP, concurrency, testing and documentation in one end-to-end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2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70"/>
                </a:solidFill>
              </a:defRPr>
            </a:pPr>
            <a:r>
              <a:t>GridWeaver | Java 21 | 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